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pace Grotesk"/>
      <p:regular r:id="rId201317"/>
    </p:embeddedFont>
    <p:embeddedFont>
      <p:font typeface="Space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237" cy="68580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" name="Text 1"/>
          <p:cNvSpPr/>
          <p:nvPr/>
        </p:nvSpPr>
        <p:spPr>
          <a:xfrm>
            <a:off x="482588" y="533400"/>
            <a:ext cx="60196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STUDENT RETENTION &amp; DROPOUT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2588" y="1094085"/>
            <a:ext cx="553706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44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EduPulse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82588" y="2145645"/>
            <a:ext cx="553706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Turning student data into actionable insights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82588" y="4039096"/>
            <a:ext cx="553706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| Python | Power BI | Statistical Analysis | n8n + AI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02237" y="0"/>
            <a:ext cx="5689458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ext 6"/>
          <p:cNvSpPr/>
          <p:nvPr/>
        </p:nvSpPr>
        <p:spPr>
          <a:xfrm>
            <a:off x="6832429" y="330200"/>
            <a:ext cx="535926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EDUPULSE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32429" y="744835"/>
          <a:ext cx="5029074" cy="914400"/>
        </p:xfrm>
        <a:graphic>
          <a:graphicData uri="http://schemas.openxmlformats.org/drawingml/2006/table">
            <a:tbl>
              <a:tblPr/>
              <a:tblGrid>
                <a:gridCol w="2514537"/>
                <a:gridCol w="2514537"/>
              </a:tblGrid>
              <a:tr h="526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68" kern="100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STUDENT RECORDS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spc="-48" kern="1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4,424</a:t>
                      </a:r>
                      <a:endParaRPr lang="en-US" sz="2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26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68" kern="100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DROPOUT RATE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spc="-48" kern="1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32.12%</a:t>
                      </a:r>
                      <a:endParaRPr lang="en-US" sz="2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  <a:tr h="513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spc="168" kern="100" dirty="0">
                          <a:solidFill>
                            <a:srgbClr val="00000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GRADUATE</a:t>
                      </a:r>
                      <a:endParaRPr lang="en-US" sz="12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400" spc="-48" kern="1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49.93%</a:t>
                      </a:r>
                      <a:endParaRPr lang="en-US" sz="24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429" y="2464495"/>
            <a:ext cx="5029074" cy="4063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495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Dropout is a business problem, not just an academic metric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70026"/>
            <a:ext cx="1097252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Educational institutions need earlier visibility into academic and financial patterns associated with dropout.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200301"/>
            <a:ext cx="3454314" cy="2773363"/>
          </a:xfrm>
          <a:prstGeom prst="roundRect">
            <a:avLst>
              <a:gd name="adj" fmla="val 3270"/>
            </a:avLst>
          </a:prstGeom>
          <a:solidFill>
            <a:srgbClr val="F3F3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578" y="3454301"/>
            <a:ext cx="431789" cy="43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578" y="4023007"/>
            <a:ext cx="2946326" cy="136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What proportion of students graduate, remain enrolled, or drop out?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368691" y="3200301"/>
            <a:ext cx="3454314" cy="2773363"/>
          </a:xfrm>
          <a:prstGeom prst="roundRect">
            <a:avLst>
              <a:gd name="adj" fmla="val 3270"/>
            </a:avLst>
          </a:prstGeom>
          <a:solidFill>
            <a:srgbClr val="F3F3F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684" y="3454301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22684" y="4023007"/>
            <a:ext cx="2946326" cy="1706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Which academic and financial patterns are associated with higher observed dropout rates?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127797" y="3200301"/>
            <a:ext cx="3454314" cy="2773363"/>
          </a:xfrm>
          <a:prstGeom prst="roundRect">
            <a:avLst>
              <a:gd name="adj" fmla="val 3270"/>
            </a:avLst>
          </a:prstGeom>
          <a:solidFill>
            <a:srgbClr val="F3F3F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0" y="3454301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81790" y="4023007"/>
            <a:ext cx="2946326" cy="136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How can validated findings become practical support actions?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FROM DATA TO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495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One dataset, one workflow, multiple decision lenses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270026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4,424 cleaned student records from the UCI Student Dropout and Academic Success dataset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776736"/>
            <a:ext cx="2647884" cy="2726531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005336"/>
            <a:ext cx="8311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09585" y="3307556"/>
            <a:ext cx="2647884" cy="19050"/>
          </a:xfrm>
          <a:prstGeom prst="rect">
            <a:avLst/>
          </a:prstGeom>
          <a:solidFill>
            <a:srgbClr val="FE585D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491393"/>
            <a:ext cx="219069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Data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179" y="3978374"/>
            <a:ext cx="2190695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UCI Student Dropout and Academic Success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38179" y="4565749"/>
            <a:ext cx="219069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4,424 cleaned student records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84465" y="2776736"/>
            <a:ext cx="2647884" cy="2726531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2" name="Text 10"/>
          <p:cNvSpPr/>
          <p:nvPr/>
        </p:nvSpPr>
        <p:spPr>
          <a:xfrm>
            <a:off x="3613060" y="3005336"/>
            <a:ext cx="8311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384465" y="3307556"/>
            <a:ext cx="2647884" cy="19050"/>
          </a:xfrm>
          <a:prstGeom prst="rect">
            <a:avLst/>
          </a:prstGeom>
          <a:solidFill>
            <a:srgbClr val="FE585D"/>
          </a:solidFill>
          <a:ln/>
        </p:spPr>
      </p:sp>
      <p:sp>
        <p:nvSpPr>
          <p:cNvPr id="14" name="Text 12"/>
          <p:cNvSpPr/>
          <p:nvPr/>
        </p:nvSpPr>
        <p:spPr>
          <a:xfrm>
            <a:off x="3613060" y="3491393"/>
            <a:ext cx="219069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Analysis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13060" y="3978374"/>
            <a:ext cx="241928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3060" y="4335562"/>
            <a:ext cx="219069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SQL business analysis answers the operational questions.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59346" y="2776736"/>
            <a:ext cx="2647884" cy="2726531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ext 16"/>
          <p:cNvSpPr/>
          <p:nvPr/>
        </p:nvSpPr>
        <p:spPr>
          <a:xfrm>
            <a:off x="6387940" y="3005336"/>
            <a:ext cx="8311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59346" y="3307556"/>
            <a:ext cx="2647884" cy="19050"/>
          </a:xfrm>
          <a:prstGeom prst="rect">
            <a:avLst/>
          </a:prstGeom>
          <a:solidFill>
            <a:srgbClr val="FE585D"/>
          </a:solidFill>
          <a:ln/>
        </p:spPr>
      </p:sp>
      <p:sp>
        <p:nvSpPr>
          <p:cNvPr id="20" name="Text 18"/>
          <p:cNvSpPr/>
          <p:nvPr/>
        </p:nvSpPr>
        <p:spPr>
          <a:xfrm>
            <a:off x="6387940" y="3491393"/>
            <a:ext cx="219069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Validation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87940" y="3978374"/>
            <a:ext cx="241928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· Pandas · NumPy · SciPy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87940" y="4335562"/>
            <a:ext cx="219069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EDA, data quality, and statistical validation.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934226" y="2776736"/>
            <a:ext cx="2647884" cy="2726531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821" y="3005336"/>
            <a:ext cx="8311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934226" y="3307556"/>
            <a:ext cx="2647884" cy="19050"/>
          </a:xfrm>
          <a:prstGeom prst="rect">
            <a:avLst/>
          </a:prstGeom>
          <a:solidFill>
            <a:srgbClr val="FE585D"/>
          </a:solidFill>
          <a:ln/>
        </p:spPr>
      </p:sp>
      <p:sp>
        <p:nvSpPr>
          <p:cNvPr id="26" name="Text 24"/>
          <p:cNvSpPr/>
          <p:nvPr/>
        </p:nvSpPr>
        <p:spPr>
          <a:xfrm>
            <a:off x="9162821" y="3491393"/>
            <a:ext cx="2190695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62821" y="3978374"/>
            <a:ext cx="2419289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62821" y="4335562"/>
            <a:ext cx="219069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Turns the findings into an interactive three-page dashboard.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495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Half graduate, one-third dropout, one in six still enrolled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70026"/>
            <a:ext cx="6309262" cy="2902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257998"/>
            <a:ext cx="630926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observed population is led by graduates, with 1,421 students recorded as dropout.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5936" y="2710061"/>
          <a:ext cx="4206175" cy="914400"/>
        </p:xfrm>
        <a:graphic>
          <a:graphicData uri="http://schemas.openxmlformats.org/drawingml/2006/table">
            <a:tbl>
              <a:tblPr/>
              <a:tblGrid>
                <a:gridCol w="1682410"/>
                <a:gridCol w="1261833"/>
                <a:gridCol w="1261932"/>
              </a:tblGrid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Outcome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Students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Share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Graduate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2,209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49.93%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Dropout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1,421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32.12%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Enrolled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794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17.95%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375936" y="4817864"/>
            <a:ext cx="4206174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population: 4,424 students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1235135"/>
            <a:ext cx="10972526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b="1" spc="-72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Academic progress and financial friction separate risk groups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447925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Lower academic progress and financial friction appear together in the highest-risk groups.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964541"/>
            <a:ext cx="533386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Academic progress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451523"/>
          <a:ext cx="5333867" cy="914400"/>
        </p:xfrm>
        <a:graphic>
          <a:graphicData uri="http://schemas.openxmlformats.org/drawingml/2006/table">
            <a:tbl>
              <a:tblPr/>
              <a:tblGrid>
                <a:gridCol w="1813475"/>
                <a:gridCol w="1760097"/>
                <a:gridCol w="1760295"/>
              </a:tblGrid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Driver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Lower-risk group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Higher-risk group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2nd-semester grade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12.70 graduate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5.90 dropout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6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Approved units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6.18 graduate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1.94 dropout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48244" y="2964541"/>
            <a:ext cx="5333867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Financial friction</a:t>
            </a:r>
            <a:endParaRPr lang="en-US" sz="2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3451523"/>
          <a:ext cx="5333867" cy="914400"/>
        </p:xfrm>
        <a:graphic>
          <a:graphicData uri="http://schemas.openxmlformats.org/drawingml/2006/table">
            <a:tbl>
              <a:tblPr/>
              <a:tblGrid>
                <a:gridCol w="1813475"/>
                <a:gridCol w="1760097"/>
                <a:gridCol w="1760295"/>
              </a:tblGrid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Driver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Lower-risk group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Higher-risk group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Tuition fee status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24.7% up to date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86.5% not up to date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Debtor status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28.3% non-debtor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62.0% debtor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86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Scholarship status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12.2% holders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38.7% non-holders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3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COMBINED SEGMENT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5495"/>
            <a:ext cx="10972526" cy="5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b="1" spc="-80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clearest risk signal is a combined segment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939611"/>
            <a:ext cx="7111822" cy="341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400" spc="-48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Observed dropout rate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26593"/>
          <a:ext cx="7111822" cy="914400"/>
        </p:xfrm>
        <a:graphic>
          <a:graphicData uri="http://schemas.openxmlformats.org/drawingml/2006/table">
            <a:tbl>
              <a:tblPr/>
              <a:tblGrid>
                <a:gridCol w="1777956"/>
                <a:gridCol w="2666933"/>
                <a:gridCol w="2666933"/>
              </a:tblGrid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Academic progress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Fees up to date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Overdue tuition fees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1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Grade 8 or above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989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Grade below 8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7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0" b="1" spc="-112" kern="100" dirty="0">
                          <a:solidFill>
                            <a:srgbClr val="222222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97.0%</a:t>
                      </a:r>
                      <a:endParaRPr lang="en-US" sz="56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b="1" spc="-112" kern="100" dirty="0">
                          <a:solidFill>
                            <a:srgbClr val="222222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observed dropout rate</a:t>
                      </a:r>
                      <a:endParaRPr lang="en-US" sz="56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026199" y="1701105"/>
            <a:ext cx="3555911" cy="4019451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ext 4"/>
          <p:cNvSpPr/>
          <p:nvPr/>
        </p:nvSpPr>
        <p:spPr>
          <a:xfrm>
            <a:off x="8280193" y="1955105"/>
            <a:ext cx="330191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80193" y="2303066"/>
            <a:ext cx="3047924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Welch's t-tests, Chi-square tests, and Cramér's V examined differences and associations.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Tuition fee status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80193" y="3961606"/>
            <a:ext cx="3047924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44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0.431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8280193" y="5006181"/>
            <a:ext cx="3047924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Cramér's V, strongest association among the three highlighted financial indicators.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9585" y="5914231"/>
            <a:ext cx="1158211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Interpretation: association, not causation; the analysis does not predict an individual's future outcome.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POWER BI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43333"/>
            <a:ext cx="10972526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600" b="1" spc="-72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dashboard turns analysis into a decision surface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156123"/>
            <a:ext cx="3454314" cy="2848769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308523"/>
            <a:ext cx="3149521" cy="17676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4161929"/>
            <a:ext cx="314952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Executive Overview</a:t>
            </a:r>
            <a:endParaRPr lang="en-US" sz="12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Outcomes, dropout rate, age groups, and financial indicators.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68691" y="2156123"/>
            <a:ext cx="3454314" cy="2848769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87" y="2308523"/>
            <a:ext cx="3149521" cy="17676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1087" y="4161929"/>
            <a:ext cx="314952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Dropout Drivers</a:t>
            </a:r>
            <a:endParaRPr lang="en-US" sz="12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performance, approved curricular units, and high-risk segments.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27797" y="2156123"/>
            <a:ext cx="3454314" cy="2848769"/>
          </a:xfrm>
          <a:prstGeom prst="rect">
            <a:avLst/>
          </a:prstGeom>
          <a:solidFill>
            <a:srgbClr val="F3F3F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93" y="2308523"/>
            <a:ext cx="3149521" cy="17676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80193" y="4161929"/>
            <a:ext cx="3149521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Statistical &amp; AI Insights</a:t>
            </a:r>
            <a:endParaRPr lang="en-US" sz="125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Statistical evidence, Cramér's V, and business recommendations.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09585" y="5198566"/>
            <a:ext cx="5410065" cy="1057870"/>
          </a:xfrm>
          <a:prstGeom prst="rect">
            <a:avLst/>
          </a:prstGeom>
          <a:solidFill>
            <a:srgbClr val="FE585D"/>
          </a:solidFill>
          <a:ln/>
        </p:spPr>
      </p:sp>
      <p:sp>
        <p:nvSpPr>
          <p:cNvPr id="14" name="Text 9"/>
          <p:cNvSpPr/>
          <p:nvPr/>
        </p:nvSpPr>
        <p:spPr>
          <a:xfrm>
            <a:off x="838179" y="5287466"/>
            <a:ext cx="4952876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Strongest signal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Tuition fee status · Cramér's V = 0.431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172046" y="5198566"/>
            <a:ext cx="5410065" cy="1057870"/>
          </a:xfrm>
          <a:prstGeom prst="rect">
            <a:avLst/>
          </a:prstGeom>
          <a:solidFill>
            <a:srgbClr val="9DC656"/>
          </a:solidFill>
          <a:ln/>
        </p:spPr>
      </p:sp>
      <p:sp>
        <p:nvSpPr>
          <p:cNvPr id="16" name="Text 11"/>
          <p:cNvSpPr/>
          <p:nvPr/>
        </p:nvSpPr>
        <p:spPr>
          <a:xfrm>
            <a:off x="6400640" y="5350966"/>
            <a:ext cx="4952876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Decision surface</a:t>
            </a:r>
            <a:endParaRPr lang="en-US" sz="17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validated findings to business recommendations.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FE585D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904400"/>
            <a:ext cx="10972526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700" b="1" spc="-74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From validated analysis to action, automatically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09585" y="1584623"/>
            <a:ext cx="3454314" cy="3142059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584623"/>
            <a:ext cx="3454314" cy="795238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621987" y="1597025"/>
            <a:ext cx="3429410" cy="77033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2260246" y="1833066"/>
            <a:ext cx="76257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1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812780" y="2452489"/>
            <a:ext cx="3251119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SHARED 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2780" y="2727710"/>
            <a:ext cx="3047924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spc="-44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2780" y="3166765"/>
            <a:ext cx="304792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Prepares data, checks quality, and produces validated results.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368691" y="1584623"/>
            <a:ext cx="3454314" cy="3142059"/>
          </a:xfrm>
          <a:prstGeom prst="roundRect">
            <a:avLst>
              <a:gd name="adj" fmla="val 2658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94090" y="1610023"/>
            <a:ext cx="3403515" cy="795238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4406492" y="1622425"/>
            <a:ext cx="3378612" cy="77033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019352" y="1858466"/>
            <a:ext cx="76257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2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4597285" y="2485619"/>
            <a:ext cx="2997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AI Business Report → n8n → AI → Gmail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597285" y="3081238"/>
            <a:ext cx="2997125" cy="1416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n8n receives the results through a webhook and routes the business-report path. AI interprets the evidence into business-friendly insights. Gmail delivers the AI report when the configured condition is met.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27797" y="1584623"/>
            <a:ext cx="3454314" cy="3142059"/>
          </a:xfrm>
          <a:prstGeom prst="roundRect">
            <a:avLst>
              <a:gd name="adj" fmla="val 2658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3196" y="1610023"/>
            <a:ext cx="3403515" cy="795238"/>
          </a:xfrm>
          <a:prstGeom prst="rect">
            <a:avLst/>
          </a:prstGeom>
          <a:solidFill>
            <a:srgbClr val="D8D4D4"/>
          </a:solidFill>
          <a:ln/>
        </p:spPr>
      </p:sp>
      <p:sp>
        <p:nvSpPr>
          <p:cNvPr id="19" name="Shape 17"/>
          <p:cNvSpPr/>
          <p:nvPr/>
        </p:nvSpPr>
        <p:spPr>
          <a:xfrm>
            <a:off x="8165598" y="1622425"/>
            <a:ext cx="3378612" cy="770334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9778458" y="1858466"/>
            <a:ext cx="762576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35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3</a:t>
            </a:r>
            <a:endParaRPr lang="en-US" sz="2350" dirty="0"/>
          </a:p>
        </p:txBody>
      </p:sp>
      <p:sp>
        <p:nvSpPr>
          <p:cNvPr id="21" name="Text 19"/>
          <p:cNvSpPr/>
          <p:nvPr/>
        </p:nvSpPr>
        <p:spPr>
          <a:xfrm>
            <a:off x="8356391" y="2485619"/>
            <a:ext cx="2997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Technical Data Quality Alert → notifier.py → Gmail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56391" y="3081238"/>
            <a:ext cx="2997125" cy="944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Issues are detected in the technical data quality path. Python SMTP sends technical anomaly alerts when issues are detected.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9585" y="5046055"/>
            <a:ext cx="1097252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200" spc="-44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09585" y="5485110"/>
            <a:ext cx="2628834" cy="1381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5" name="Text 23"/>
          <p:cNvSpPr/>
          <p:nvPr/>
        </p:nvSpPr>
        <p:spPr>
          <a:xfrm>
            <a:off x="812780" y="5688310"/>
            <a:ext cx="2425639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2780" y="5964129"/>
            <a:ext cx="2222444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Early identification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3390815" y="5485110"/>
            <a:ext cx="2628834" cy="1381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8" name="Text 26"/>
          <p:cNvSpPr/>
          <p:nvPr/>
        </p:nvSpPr>
        <p:spPr>
          <a:xfrm>
            <a:off x="3594010" y="5688310"/>
            <a:ext cx="2425639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94010" y="5964129"/>
            <a:ext cx="222244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Academic support for low grades and fewer approved units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6172046" y="5485110"/>
            <a:ext cx="2628834" cy="1381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1" name="Text 29"/>
          <p:cNvSpPr/>
          <p:nvPr/>
        </p:nvSpPr>
        <p:spPr>
          <a:xfrm>
            <a:off x="6375241" y="5688310"/>
            <a:ext cx="2425639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75241" y="5964129"/>
            <a:ext cx="22224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Financial assistance or flexible payment options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953276" y="5485110"/>
            <a:ext cx="2628834" cy="1381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4" name="Text 32"/>
          <p:cNvSpPr/>
          <p:nvPr/>
        </p:nvSpPr>
        <p:spPr>
          <a:xfrm>
            <a:off x="9156471" y="5688310"/>
            <a:ext cx="2425639" cy="195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00" b="1" spc="155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56471" y="5964129"/>
            <a:ext cx="2222444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50" spc="-33" kern="100" dirty="0">
                <a:solidFill>
                  <a:srgbClr val="222222"/>
                </a:solidFill>
                <a:latin typeface="Source Sans 3 SemiBold" pitchFamily="34" charset="0"/>
                <a:ea typeface="Source Sans 3 SemiBold" pitchFamily="34" charset="-122"/>
                <a:cs typeface="Source Sans 3 SemiBold" pitchFamily="34" charset="-120"/>
              </a:rPr>
              <a:t>Targeted intervention and outcome monitoring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1900495" y="6443663"/>
            <a:ext cx="2912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82" y="1117600"/>
            <a:ext cx="6730832" cy="4468118"/>
          </a:xfrm>
          <a:prstGeom prst="roundRect">
            <a:avLst>
              <a:gd name="adj" fmla="val 725"/>
            </a:avLst>
          </a:prstGeom>
          <a:solidFill>
            <a:srgbClr val="F3F3F3"/>
          </a:solidFill>
          <a:ln/>
        </p:spPr>
      </p:sp>
      <p:sp>
        <p:nvSpPr>
          <p:cNvPr id="3" name="Text 1"/>
          <p:cNvSpPr/>
          <p:nvPr/>
        </p:nvSpPr>
        <p:spPr>
          <a:xfrm>
            <a:off x="1142971" y="1473200"/>
            <a:ext cx="652763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168" kern="100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EDUPULSE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2971" y="1865610"/>
            <a:ext cx="5918052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200" b="1" spc="-144" kern="100" dirty="0">
                <a:solidFill>
                  <a:srgbClr val="22222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2971" y="2910185"/>
            <a:ext cx="591805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EduPulse turns student data into earlier, more targeted support.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2971" y="3894435"/>
            <a:ext cx="1952775" cy="38100"/>
          </a:xfrm>
          <a:prstGeom prst="roundRect">
            <a:avLst>
              <a:gd name="adj" fmla="val 49999"/>
            </a:avLst>
          </a:prstGeom>
          <a:solidFill>
            <a:srgbClr val="FE585D"/>
          </a:solidFill>
          <a:ln/>
        </p:spPr>
      </p:sp>
      <p:sp>
        <p:nvSpPr>
          <p:cNvPr id="7" name="Text 5"/>
          <p:cNvSpPr/>
          <p:nvPr/>
        </p:nvSpPr>
        <p:spPr>
          <a:xfrm>
            <a:off x="1142971" y="4180185"/>
            <a:ext cx="5918052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222222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Neeraj Singh</a:t>
            </a:r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Data Analytics | SQL | Python | Statistics | Power BI | AI Automation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2971" y="4999930"/>
            <a:ext cx="652763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Next step: connect interventions to outcomes and evaluate impact.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2026-10-11T19:20:29Z</dcterms:created>
  <dcterms:modified xsi:type="dcterms:W3CDTF">2026-10-11T19:20:29Z</dcterms:modified>
</cp:coreProperties>
</file>